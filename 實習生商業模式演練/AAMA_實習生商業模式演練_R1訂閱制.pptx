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5 分鐘：說明這次的安排、分享方式、需要大家配合的事項。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五種收費方式各一輪，每輪個案兼顧數位科技與生活服務。個案收費方式部分為推估，出題前會再確認。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MA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AAMA 台北搖籃計畫｜實習生商業思維學習計畫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MA_DARK">
    <p:bg>
      <p:bgPr>
        <a:solidFill>
          <a:srgbClr val="0E7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AAMA 台北搖籃計畫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011680"/>
            <a:ext cx="2194560" cy="2194560"/>
          </a:xfrm>
          <a:prstGeom prst="ellipse">
            <a:avLst/>
          </a:prstGeom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508760"/>
            <a:ext cx="3200400" cy="3200400"/>
          </a:xfrm>
          <a:prstGeom prst="ellipse">
            <a:avLst/>
          </a:prstGeom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005840"/>
            <a:ext cx="4206240" cy="4206240"/>
          </a:xfrm>
          <a:prstGeom prst="ellipse">
            <a:avLst/>
          </a:prstGeom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502920"/>
            <a:ext cx="5212080" cy="5212080"/>
          </a:xfrm>
          <a:prstGeom prst="ellipse">
            <a:avLst/>
          </a:prstGeom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0"/>
            <a:ext cx="6217920" cy="6217920"/>
          </a:xfrm>
          <a:prstGeom prst="ellipse">
            <a:avLst/>
          </a:prstGeom>
          <a:ln w="190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2026–2027 實習生商業思維學習計畫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實習生商業模式演練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ROUND 1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第 1 輪｜訂閱制・團體分組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411480" cy="365760"/>
          </a:xfrm>
          <a:custGeom>
            <a:avLst/>
            <a:gdLst/>
            <a:ahLst/>
            <a:cxnLst/>
            <a:rect l="l" t="t" r="r" b="b"/>
            <a:pathLst>
              <a:path w="411480" h="365760">
                <a:moveTo>
                  <a:pt x="0" y="0"/>
                </a:moveTo>
                <a:lnTo>
                  <a:pt x="411480" y="0"/>
                </a:lnTo>
                <a:lnTo>
                  <a:pt x="2286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095F9"/>
          </a:solidFill>
          <a:ln w="12700">
            <a:solidFill>
              <a:srgbClr val="1095F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3272" y="4754880"/>
            <a:ext cx="1234440" cy="365760"/>
          </a:xfrm>
          <a:custGeom>
            <a:avLst/>
            <a:gdLst/>
            <a:ahLst/>
            <a:cxnLst/>
            <a:rect l="l" t="t" r="r" b="b"/>
            <a:pathLst>
              <a:path w="1234440" h="365760">
                <a:moveTo>
                  <a:pt x="0" y="0"/>
                </a:moveTo>
                <a:lnTo>
                  <a:pt x="1234440" y="0"/>
                </a:lnTo>
                <a:lnTo>
                  <a:pt x="105156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4754880"/>
            <a:ext cx="2057400" cy="365760"/>
          </a:xfrm>
          <a:custGeom>
            <a:avLst/>
            <a:gdLst/>
            <a:ahLst/>
            <a:cxnLst/>
            <a:rect l="l" t="t" r="r" b="b"/>
            <a:pathLst>
              <a:path w="2057400" h="365760">
                <a:moveTo>
                  <a:pt x="0" y="0"/>
                </a:moveTo>
                <a:lnTo>
                  <a:pt x="2057400" y="0"/>
                </a:lnTo>
                <a:lnTo>
                  <a:pt x="187452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7FD221"/>
          </a:solidFill>
          <a:ln w="12700">
            <a:solidFill>
              <a:srgbClr val="7FD22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用商業模式九宮格，看懂 AAMA 校友的生意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這一年的五輪演練｜一輪一種收費模式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 2 個月一輪，第 1 輪團體分組，第 2 輪起個人進行。今天是第 1 輪。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54326" cy="548640"/>
          </a:xfrm>
          <a:custGeom>
            <a:avLst/>
            <a:gdLst/>
            <a:ahLst/>
            <a:cxnLst/>
            <a:rect l="l" t="t" r="r" b="b"/>
            <a:pathLst>
              <a:path w="2154326" h="548640">
                <a:moveTo>
                  <a:pt x="0" y="0"/>
                </a:moveTo>
                <a:lnTo>
                  <a:pt x="2154326" y="0"/>
                </a:lnTo>
                <a:lnTo>
                  <a:pt x="197144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R1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2026.09–10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108606" cy="3246120"/>
          </a:xfrm>
          <a:prstGeom prst="rect">
            <a:avLst/>
          </a:prstGeom>
          <a:solidFill>
            <a:srgbClr val="E4F1FD"/>
          </a:solidFill>
          <a:ln w="25400">
            <a:solidFill>
              <a:srgbClr val="0E7E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803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訂閱制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83280"/>
            <a:ext cx="17428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定期付費、持續使用服務，例如月費、年費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進行方式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599432"/>
            <a:ext cx="174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團體分組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8348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個案舉例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21208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iCHEF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whoscall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31366" y="2542032"/>
            <a:ext cx="1234440" cy="329184"/>
          </a:xfrm>
          <a:custGeom>
            <a:avLst/>
            <a:gdLst/>
            <a:ahLst/>
            <a:cxnLst/>
            <a:rect l="l" t="t" r="r" b="b"/>
            <a:pathLst>
              <a:path w="1234440" h="329184">
                <a:moveTo>
                  <a:pt x="0" y="0"/>
                </a:moveTo>
                <a:lnTo>
                  <a:pt x="1234440" y="0"/>
                </a:lnTo>
                <a:lnTo>
                  <a:pt x="1124712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95374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現在在這裡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94406" y="1965960"/>
            <a:ext cx="2154326" cy="548640"/>
          </a:xfrm>
          <a:custGeom>
            <a:avLst/>
            <a:gdLst/>
            <a:ahLst/>
            <a:cxnLst/>
            <a:rect l="l" t="t" r="r" b="b"/>
            <a:pathLst>
              <a:path w="2154326" h="548640">
                <a:moveTo>
                  <a:pt x="0" y="0"/>
                </a:moveTo>
                <a:lnTo>
                  <a:pt x="2154326" y="0"/>
                </a:lnTo>
                <a:lnTo>
                  <a:pt x="197144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31566" y="196596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R2  </a:t>
            </a:r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2026.11–12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94406" y="2697480"/>
            <a:ext cx="210860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7286" y="28803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交易抽成／媒合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977286" y="3383280"/>
            <a:ext cx="17428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每筆交易或媒合成功，抽一定比例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77286" y="43434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進行方式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77286" y="4599432"/>
            <a:ext cx="174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77286" y="498348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個案舉例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77286" y="521208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TapPay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AmazingTalker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FunNow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40173" y="1965960"/>
            <a:ext cx="2154326" cy="548640"/>
          </a:xfrm>
          <a:custGeom>
            <a:avLst/>
            <a:gdLst/>
            <a:ahLst/>
            <a:cxnLst/>
            <a:rect l="l" t="t" r="r" b="b"/>
            <a:pathLst>
              <a:path w="2154326" h="548640">
                <a:moveTo>
                  <a:pt x="0" y="0"/>
                </a:moveTo>
                <a:lnTo>
                  <a:pt x="2154326" y="0"/>
                </a:lnTo>
                <a:lnTo>
                  <a:pt x="197144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77333" y="196596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R3  </a:t>
            </a:r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2027.01–02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40173" y="2697480"/>
            <a:ext cx="210860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23053" y="28803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產品賣斷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223053" y="3383280"/>
            <a:ext cx="17428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一次賣出硬體或實體商品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223053" y="43434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進行方式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23053" y="4599432"/>
            <a:ext cx="174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23053" y="498348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個案舉例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223053" y="521208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adonit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歐萊德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CACO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85939" y="1965960"/>
            <a:ext cx="2154326" cy="548640"/>
          </a:xfrm>
          <a:custGeom>
            <a:avLst/>
            <a:gdLst/>
            <a:ahLst/>
            <a:cxnLst/>
            <a:rect l="l" t="t" r="r" b="b"/>
            <a:pathLst>
              <a:path w="2154326" h="548640">
                <a:moveTo>
                  <a:pt x="0" y="0"/>
                </a:moveTo>
                <a:lnTo>
                  <a:pt x="2154326" y="0"/>
                </a:lnTo>
                <a:lnTo>
                  <a:pt x="197144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23099" y="196596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R4  </a:t>
            </a:r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2027.03–04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85939" y="2697480"/>
            <a:ext cx="210860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68819" y="28803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授權／IP／加盟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468819" y="3383280"/>
            <a:ext cx="17428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授權技術、品牌或展店，收取權利金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68819" y="43434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進行方式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468819" y="4599432"/>
            <a:ext cx="174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468819" y="498348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個案舉例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468819" y="521208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意藍資訊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印花樂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台灣吧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531706" y="1965960"/>
            <a:ext cx="2154326" cy="548640"/>
          </a:xfrm>
          <a:custGeom>
            <a:avLst/>
            <a:gdLst/>
            <a:ahLst/>
            <a:cxnLst/>
            <a:rect l="l" t="t" r="r" b="b"/>
            <a:pathLst>
              <a:path w="2154326" h="548640">
                <a:moveTo>
                  <a:pt x="0" y="0"/>
                </a:moveTo>
                <a:lnTo>
                  <a:pt x="2154326" y="0"/>
                </a:lnTo>
                <a:lnTo>
                  <a:pt x="1971446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5E5E5"/>
          </a:solidFill>
          <a:ln w="12700">
            <a:solidFill>
              <a:srgbClr val="E5E5E5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68866" y="1965960"/>
            <a:ext cx="18342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R5  </a:t>
            </a:r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2027.05–06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31706" y="2697480"/>
            <a:ext cx="2108606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14586" y="2880360"/>
            <a:ext cx="1742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專案／服務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9714586" y="3383280"/>
            <a:ext cx="17428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依專案或服務內容計價；另提一項優化建議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714586" y="43434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進行方式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714586" y="4599432"/>
            <a:ext cx="17428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個人＋收穫分享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714586" y="498348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個案舉例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714586" y="5212080"/>
            <a:ext cx="17428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Tagtoo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紅門互動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多扶假期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今天的安排｜60 分鐘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先比較同一家公司的兩種解讀，再看各組自選的公司，最後回饋與總結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76300" cy="685800"/>
          </a:xfrm>
          <a:custGeom>
            <a:avLst/>
            <a:gdLst/>
            <a:ahLst/>
            <a:cxnLst/>
            <a:rect l="l" t="t" r="r" b="b"/>
            <a:pathLst>
              <a:path w="876300" h="685800">
                <a:moveTo>
                  <a:pt x="0" y="0"/>
                </a:moveTo>
                <a:lnTo>
                  <a:pt x="876300" y="0"/>
                </a:lnTo>
                <a:lnTo>
                  <a:pt x="711708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647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70660" y="2331720"/>
            <a:ext cx="3642360" cy="685800"/>
          </a:xfrm>
          <a:custGeom>
            <a:avLst/>
            <a:gdLst/>
            <a:ahLst/>
            <a:cxnLst/>
            <a:rect l="l" t="t" r="r" b="b"/>
            <a:pathLst>
              <a:path w="3642360" h="685800">
                <a:moveTo>
                  <a:pt x="0" y="0"/>
                </a:moveTo>
                <a:lnTo>
                  <a:pt x="3642360" y="0"/>
                </a:lnTo>
                <a:lnTo>
                  <a:pt x="3477768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62100" y="2331720"/>
            <a:ext cx="341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20′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8740" y="2331720"/>
            <a:ext cx="1798320" cy="685800"/>
          </a:xfrm>
          <a:custGeom>
            <a:avLst/>
            <a:gdLst/>
            <a:ahLst/>
            <a:cxnLst/>
            <a:rect l="l" t="t" r="r" b="b"/>
            <a:pathLst>
              <a:path w="1798320" h="685800">
                <a:moveTo>
                  <a:pt x="0" y="0"/>
                </a:moveTo>
                <a:lnTo>
                  <a:pt x="1798320" y="0"/>
                </a:lnTo>
                <a:lnTo>
                  <a:pt x="1633728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1095F9"/>
          </a:solidFill>
          <a:ln w="12700">
            <a:solidFill>
              <a:srgbClr val="1095F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0180" y="2331720"/>
            <a:ext cx="1569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10′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02780" y="2331720"/>
            <a:ext cx="1798320" cy="685800"/>
          </a:xfrm>
          <a:custGeom>
            <a:avLst/>
            <a:gdLst/>
            <a:ahLst/>
            <a:cxnLst/>
            <a:rect l="l" t="t" r="r" b="b"/>
            <a:pathLst>
              <a:path w="1798320" h="685800">
                <a:moveTo>
                  <a:pt x="0" y="0"/>
                </a:moveTo>
                <a:lnTo>
                  <a:pt x="1798320" y="0"/>
                </a:lnTo>
                <a:lnTo>
                  <a:pt x="1633728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1095F9"/>
          </a:solidFill>
          <a:ln w="12700">
            <a:solidFill>
              <a:srgbClr val="1095F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94220" y="2331720"/>
            <a:ext cx="1569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46820" y="2331720"/>
            <a:ext cx="876300" cy="685800"/>
          </a:xfrm>
          <a:custGeom>
            <a:avLst/>
            <a:gdLst/>
            <a:ahLst/>
            <a:cxnLst/>
            <a:rect l="l" t="t" r="r" b="b"/>
            <a:pathLst>
              <a:path w="876300" h="685800">
                <a:moveTo>
                  <a:pt x="0" y="0"/>
                </a:moveTo>
                <a:lnTo>
                  <a:pt x="876300" y="0"/>
                </a:lnTo>
                <a:lnTo>
                  <a:pt x="711708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38260" y="2331720"/>
            <a:ext cx="647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768840" y="2331720"/>
            <a:ext cx="1429512" cy="685800"/>
          </a:xfrm>
          <a:custGeom>
            <a:avLst/>
            <a:gdLst/>
            <a:ahLst/>
            <a:cxnLst/>
            <a:rect l="l" t="t" r="r" b="b"/>
            <a:pathLst>
              <a:path w="1429512" h="685800">
                <a:moveTo>
                  <a:pt x="0" y="0"/>
                </a:moveTo>
                <a:lnTo>
                  <a:pt x="1429512" y="0"/>
                </a:lnTo>
                <a:lnTo>
                  <a:pt x="126492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7FD221"/>
          </a:solidFill>
          <a:ln w="12700">
            <a:solidFill>
              <a:srgbClr val="7FD221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60280" y="2331720"/>
            <a:ext cx="1200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8′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44072" y="2331720"/>
            <a:ext cx="323088" cy="685800"/>
          </a:xfrm>
          <a:custGeom>
            <a:avLst/>
            <a:gdLst/>
            <a:ahLst/>
            <a:cxnLst/>
            <a:rect l="l" t="t" r="r" b="b"/>
            <a:pathLst>
              <a:path w="323088" h="685800">
                <a:moveTo>
                  <a:pt x="0" y="0"/>
                </a:moveTo>
                <a:lnTo>
                  <a:pt x="323088" y="0"/>
                </a:lnTo>
                <a:lnTo>
                  <a:pt x="158496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9AA5B1"/>
          </a:solidFill>
          <a:ln w="12700">
            <a:solidFill>
              <a:srgbClr val="9AA5B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00:00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開場說明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專案經理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70660" y="3200400"/>
            <a:ext cx="368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70660" y="3493008"/>
            <a:ext cx="368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共同指定家 iCHEF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70660" y="3886200"/>
            <a:ext cx="368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A、B 組各報 5 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 QA 10 分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58740" y="320040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00:25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58740" y="3493008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組自選家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158740" y="3886200"/>
            <a:ext cx="1844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 5＋QA 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02780" y="3200400"/>
            <a:ext cx="1844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00:35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02780" y="3493008"/>
            <a:ext cx="184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組自選家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02780" y="3886200"/>
            <a:ext cx="1844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報告 5＋QA 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8468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00:45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84682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填表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846820" y="3886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 A／表 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68840" y="3200400"/>
            <a:ext cx="147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00:50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68840" y="3493008"/>
            <a:ext cx="147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學習總結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768840" y="3886200"/>
            <a:ext cx="1475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實習生口述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solidFill>
            <a:srgbClr val="E4F1FD"/>
          </a:solidFill>
          <a:ln w="12700">
            <a:solidFill>
              <a:srgbClr val="E4F1F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時間到就停。</a:t>
            </a:r>
            <a:pPr indent="0" marL="0">
              <a:buNone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今天的議程沒有緩衝，QA 沒問完的問題，會後請改用文字回覆；熟悉校友的同仁，請在 QA 時順便補充外部看不到的資訊。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分享方式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783080"/>
            <a:ext cx="1371600" cy="411480"/>
          </a:xfrm>
          <a:custGeom>
            <a:avLst/>
            <a:gdLst/>
            <a:ahLst/>
            <a:cxnLst/>
            <a:rect l="l" t="t" r="r" b="b"/>
            <a:pathLst>
              <a:path w="1371600" h="411480">
                <a:moveTo>
                  <a:pt x="0" y="0"/>
                </a:moveTo>
                <a:lnTo>
                  <a:pt x="1371600" y="0"/>
                </a:lnTo>
                <a:lnTo>
                  <a:pt x="1188720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共同指定家｜iCHEF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同一家公司，兩種解讀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4617720" cy="566928"/>
          </a:xfrm>
          <a:prstGeom prst="rect">
            <a:avLst/>
          </a:prstGeom>
          <a:solidFill>
            <a:srgbClr val="E4F1F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661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566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組報告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566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279392"/>
            <a:ext cx="4617720" cy="566928"/>
          </a:xfrm>
          <a:prstGeom prst="rect">
            <a:avLst/>
          </a:prstGeom>
          <a:solidFill>
            <a:srgbClr val="E4F1F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42793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279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組報告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992624"/>
            <a:ext cx="4617720" cy="566928"/>
          </a:xfrm>
          <a:prstGeom prst="rect">
            <a:avLst/>
          </a:prstGeom>
          <a:solidFill>
            <a:srgbClr val="E4F1F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9926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926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 QA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9926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10′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492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783080"/>
            <a:ext cx="1371600" cy="411480"/>
          </a:xfrm>
          <a:custGeom>
            <a:avLst/>
            <a:gdLst/>
            <a:ahLst/>
            <a:cxnLst/>
            <a:rect l="l" t="t" r="r" b="b"/>
            <a:pathLst>
              <a:path w="1371600" h="411480">
                <a:moveTo>
                  <a:pt x="0" y="0"/>
                </a:moveTo>
                <a:lnTo>
                  <a:pt x="1371600" y="0"/>
                </a:lnTo>
                <a:lnTo>
                  <a:pt x="1188720" y="411480"/>
                </a:lnTo>
                <a:lnTo>
                  <a:pt x="0" y="41148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PART 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377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各組自選家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926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各自報告、各自 QA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3566160"/>
            <a:ext cx="4617720" cy="566928"/>
          </a:xfrm>
          <a:prstGeom prst="rect">
            <a:avLst/>
          </a:prstGeom>
          <a:solidFill>
            <a:srgbClr val="FFF1E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5661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35661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組報告＋QA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3566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5′＋5′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29400" y="4279392"/>
            <a:ext cx="4617720" cy="566928"/>
          </a:xfrm>
          <a:prstGeom prst="rect">
            <a:avLst/>
          </a:prstGeom>
          <a:solidFill>
            <a:srgbClr val="FFF1E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42793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9480" y="42793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組報告＋QA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4279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5′＋5′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PART 1 的 QA 請先問：兩組的九宮格哪裡不一樣？為什麼？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需要大家配合的事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640080"/>
          </a:xfrm>
          <a:custGeom>
            <a:avLst/>
            <a:gdLst/>
            <a:ahLst/>
            <a:cxnLst/>
            <a:rect l="l" t="t" r="r" b="b"/>
            <a:pathLst>
              <a:path w="5349240" h="640080">
                <a:moveTo>
                  <a:pt x="0" y="0"/>
                </a:moveTo>
                <a:lnTo>
                  <a:pt x="5349240" y="0"/>
                </a:lnTo>
                <a:lnTo>
                  <a:pt x="5074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正職夥伴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 TEAM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0E7EE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317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QA 多問「為什麼」「怎麼知道」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7340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例如：這個收益流的數字是從哪裡來的？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0E7E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補充外部看不到的資訊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6941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熟悉該校友的同仁：近況、真實收費結構、關鍵轉折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384048" cy="384048"/>
          </a:xfrm>
          <a:prstGeom prst="ellipse">
            <a:avLst/>
          </a:prstGeom>
          <a:solidFill>
            <a:srgbClr val="0E7E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519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00:45 填寫表 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654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 1 分或 5 分，請寫一個具體事例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85232"/>
            <a:ext cx="384048" cy="384048"/>
          </a:xfrm>
          <a:prstGeom prst="ellipse">
            <a:avLst/>
          </a:prstGeom>
          <a:solidFill>
            <a:srgbClr val="0E7EE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12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針對內容，不針對人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614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每個建議都附上具體做法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463040"/>
            <a:ext cx="5349240" cy="640080"/>
          </a:xfrm>
          <a:custGeom>
            <a:avLst/>
            <a:gdLst/>
            <a:ahLst/>
            <a:cxnLst/>
            <a:rect l="l" t="t" r="r" b="b"/>
            <a:pathLst>
              <a:path w="5349240" h="640080">
                <a:moveTo>
                  <a:pt x="0" y="0"/>
                </a:moveTo>
                <a:lnTo>
                  <a:pt x="5349240" y="0"/>
                </a:lnTo>
                <a:lnTo>
                  <a:pt x="50749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14630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實習生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  INTERNS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55080" y="2404872"/>
            <a:ext cx="384048" cy="384048"/>
          </a:xfrm>
          <a:prstGeom prst="ellipse">
            <a:avLst/>
          </a:prstGeom>
          <a:solidFill>
            <a:srgbClr val="FF9E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33172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嚴守 5 分鐘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7340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時間到就停，練習取捨重點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364992"/>
            <a:ext cx="384048" cy="384048"/>
          </a:xfrm>
          <a:prstGeom prst="ellipse">
            <a:avLst/>
          </a:prstGeom>
          <a:solidFill>
            <a:srgbClr val="FF9E3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29184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QA 誠實回答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6941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不知道就說不知道，記下來會後補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325112"/>
            <a:ext cx="384048" cy="384048"/>
          </a:xfrm>
          <a:prstGeom prst="ellipse">
            <a:avLst/>
          </a:prstGeom>
          <a:solidFill>
            <a:srgbClr val="FF9E3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2519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00:45 填寫表 A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65429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自評分數、本輪盲點、需要幫忙的地方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5080" y="5285232"/>
            <a:ext cx="384048" cy="384048"/>
          </a:xfrm>
          <a:prstGeom prst="ellipse">
            <a:avLst/>
          </a:prstGeom>
          <a:solidFill>
            <a:srgbClr val="FF9E3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5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52120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準備 2 分鐘學習總結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5614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題目在稍後的簡報上，口述即可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377440"/>
            <a:ext cx="2194560" cy="219456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874520"/>
            <a:ext cx="3200400" cy="320040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371600"/>
            <a:ext cx="4206240" cy="420624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868680"/>
            <a:ext cx="5212080" cy="521208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6217920" cy="621792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PART 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共同指定家｜iCHEF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同一家公司，兩種解讀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2880360" cy="777240"/>
          </a:xfrm>
          <a:custGeom>
            <a:avLst/>
            <a:gdLst/>
            <a:ahLst/>
            <a:cxnLst/>
            <a:rect l="l" t="t" r="r" b="b"/>
            <a:pathLst>
              <a:path w="2880360" h="777240">
                <a:moveTo>
                  <a:pt x="0" y="0"/>
                </a:moveTo>
                <a:lnTo>
                  <a:pt x="2880360" y="0"/>
                </a:lnTo>
                <a:lnTo>
                  <a:pt x="26060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組報告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66160" y="4389120"/>
            <a:ext cx="2880360" cy="777240"/>
          </a:xfrm>
          <a:custGeom>
            <a:avLst/>
            <a:gdLst/>
            <a:ahLst/>
            <a:cxnLst/>
            <a:rect l="l" t="t" r="r" b="b"/>
            <a:pathLst>
              <a:path w="2880360" h="777240">
                <a:moveTo>
                  <a:pt x="0" y="0"/>
                </a:moveTo>
                <a:lnTo>
                  <a:pt x="2880360" y="0"/>
                </a:lnTo>
                <a:lnTo>
                  <a:pt x="26060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組報告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83680" y="4389120"/>
            <a:ext cx="2880360" cy="777240"/>
          </a:xfrm>
          <a:custGeom>
            <a:avLst/>
            <a:gdLst/>
            <a:ahLst/>
            <a:cxnLst/>
            <a:rect l="l" t="t" r="r" b="b"/>
            <a:pathLst>
              <a:path w="2880360" h="777240">
                <a:moveTo>
                  <a:pt x="0" y="0"/>
                </a:moveTo>
                <a:lnTo>
                  <a:pt x="2880360" y="0"/>
                </a:lnTo>
                <a:lnTo>
                  <a:pt x="26060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43891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共同 QA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10′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377440"/>
            <a:ext cx="2194560" cy="219456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874520"/>
            <a:ext cx="3200400" cy="320040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371600"/>
            <a:ext cx="4206240" cy="420624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868680"/>
            <a:ext cx="5212080" cy="521208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6217920" cy="621792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PART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各組自選家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各自報告、各自 QA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2651760" cy="777240"/>
          </a:xfrm>
          <a:custGeom>
            <a:avLst/>
            <a:gdLst/>
            <a:ahLst/>
            <a:cxnLst/>
            <a:rect l="l" t="t" r="r" b="b"/>
            <a:pathLst>
              <a:path w="2651760" h="777240">
                <a:moveTo>
                  <a:pt x="0" y="0"/>
                </a:moveTo>
                <a:lnTo>
                  <a:pt x="2651760" y="0"/>
                </a:lnTo>
                <a:lnTo>
                  <a:pt x="23774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89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組報告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337560" y="4389120"/>
            <a:ext cx="2651760" cy="777240"/>
          </a:xfrm>
          <a:custGeom>
            <a:avLst/>
            <a:gdLst/>
            <a:ahLst/>
            <a:cxnLst/>
            <a:rect l="l" t="t" r="r" b="b"/>
            <a:pathLst>
              <a:path w="2651760" h="777240">
                <a:moveTo>
                  <a:pt x="0" y="0"/>
                </a:moveTo>
                <a:lnTo>
                  <a:pt x="2651760" y="0"/>
                </a:lnTo>
                <a:lnTo>
                  <a:pt x="23774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4389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組 QA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4389120"/>
            <a:ext cx="2651760" cy="777240"/>
          </a:xfrm>
          <a:custGeom>
            <a:avLst/>
            <a:gdLst/>
            <a:ahLst/>
            <a:cxnLst/>
            <a:rect l="l" t="t" r="r" b="b"/>
            <a:pathLst>
              <a:path w="2651760" h="777240">
                <a:moveTo>
                  <a:pt x="0" y="0"/>
                </a:moveTo>
                <a:lnTo>
                  <a:pt x="2651760" y="0"/>
                </a:lnTo>
                <a:lnTo>
                  <a:pt x="23774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4389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組報告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15400" y="4389120"/>
            <a:ext cx="2651760" cy="777240"/>
          </a:xfrm>
          <a:custGeom>
            <a:avLst/>
            <a:gdLst/>
            <a:ahLst/>
            <a:cxnLst/>
            <a:rect l="l" t="t" r="r" b="b"/>
            <a:pathLst>
              <a:path w="2651760" h="777240">
                <a:moveTo>
                  <a:pt x="0" y="0"/>
                </a:moveTo>
                <a:lnTo>
                  <a:pt x="2651760" y="0"/>
                </a:lnTo>
                <a:lnTo>
                  <a:pt x="2377440" y="77724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4389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 組 QA  </a:t>
            </a:r>
            <a:pPr indent="0" marL="0">
              <a:buNone/>
            </a:pPr>
            <a:r>
              <a:rPr lang="en-US" sz="1700" b="1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5′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填表時間｜5 分鐘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114800"/>
          </a:xfrm>
          <a:prstGeom prst="rect">
            <a:avLst/>
          </a:prstGeom>
          <a:solidFill>
            <a:srgbClr val="FFF1E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83080"/>
            <a:ext cx="1188720" cy="457200"/>
          </a:xfrm>
          <a:custGeom>
            <a:avLst/>
            <a:gdLst/>
            <a:ahLst/>
            <a:cxnLst/>
            <a:rect l="l" t="t" r="r" b="b"/>
            <a:pathLst>
              <a:path w="1188720" h="457200">
                <a:moveTo>
                  <a:pt x="0" y="0"/>
                </a:moveTo>
                <a:lnTo>
                  <a:pt x="1188720" y="0"/>
                </a:lnTo>
                <a:lnTo>
                  <a:pt x="10058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 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實習生自評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四構面自評 1–5 分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我負責的部分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本輪盲點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需要幫忙的地方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2560320"/>
            <a:ext cx="1600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E3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023360" y="25603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9E3E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QR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114800"/>
          </a:xfrm>
          <a:prstGeom prst="rect">
            <a:avLst/>
          </a:prstGeom>
          <a:solidFill>
            <a:srgbClr val="E4F1FD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783080"/>
            <a:ext cx="1188720" cy="457200"/>
          </a:xfrm>
          <a:custGeom>
            <a:avLst/>
            <a:gdLst/>
            <a:ahLst/>
            <a:cxnLst/>
            <a:rect l="l" t="t" r="r" b="b"/>
            <a:pathLst>
              <a:path w="1188720" h="457200">
                <a:moveTo>
                  <a:pt x="0" y="0"/>
                </a:moveTo>
                <a:lnTo>
                  <a:pt x="1188720" y="0"/>
                </a:lnTo>
                <a:lnTo>
                  <a:pt x="10058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表 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正職回饋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5146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A、B 組各四構面評分 1–5 分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👍 最值得保留的地方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🔧 最該改的地方＋建議做法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💡 外部看不到的資訊（選填）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738360" y="2560320"/>
            <a:ext cx="1600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EE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738360" y="256032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EE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QR Code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A6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四構面：九宮格完整度｜資料佐證｜洞察觀點｜表達簡報　　打 1 分或 5 分，請寫一個具體事例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學習總結｜每人 2 分鐘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請用口述回答以下三題，講具體的例子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371600" cy="1097280"/>
          </a:xfrm>
          <a:custGeom>
            <a:avLst/>
            <a:gdLst/>
            <a:ahLst/>
            <a:cxnLst/>
            <a:rect l="l" t="t" r="r" b="b"/>
            <a:pathLst>
              <a:path w="1371600" h="1097280">
                <a:moveTo>
                  <a:pt x="0" y="0"/>
                </a:moveTo>
                <a:lnTo>
                  <a:pt x="1371600" y="0"/>
                </a:lnTo>
                <a:lnTo>
                  <a:pt x="105156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0E7EE2"/>
          </a:solidFill>
          <a:ln w="12700">
            <a:solidFill>
              <a:srgbClr val="0E7EE2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9509760" cy="1097280"/>
          </a:xfrm>
          <a:prstGeom prst="rect">
            <a:avLst/>
          </a:prstGeom>
          <a:solidFill>
            <a:srgbClr val="E4F1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20574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今天學到什麼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3957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今天我對「訂閱制」最新的理解是＿＿＿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371600" cy="1097280"/>
          </a:xfrm>
          <a:custGeom>
            <a:avLst/>
            <a:gdLst/>
            <a:ahLst/>
            <a:cxnLst/>
            <a:rect l="l" t="t" r="r" b="b"/>
            <a:pathLst>
              <a:path w="1371600" h="1097280">
                <a:moveTo>
                  <a:pt x="0" y="0"/>
                </a:moveTo>
                <a:lnTo>
                  <a:pt x="1371600" y="0"/>
                </a:lnTo>
                <a:lnTo>
                  <a:pt x="105156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918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2103120" y="3291840"/>
            <a:ext cx="9509760" cy="1097280"/>
          </a:xfrm>
          <a:prstGeom prst="rect">
            <a:avLst/>
          </a:prstGeom>
          <a:solidFill>
            <a:srgbClr val="FFF1E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77440" y="34290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3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聽完 QA 和回饋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37673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我發現自己原本沒看到的是＿＿＿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371600" cy="1097280"/>
          </a:xfrm>
          <a:custGeom>
            <a:avLst/>
            <a:gdLst/>
            <a:ahLst/>
            <a:cxnLst/>
            <a:rect l="l" t="t" r="r" b="b"/>
            <a:pathLst>
              <a:path w="1371600" h="1097280">
                <a:moveTo>
                  <a:pt x="0" y="0"/>
                </a:moveTo>
                <a:lnTo>
                  <a:pt x="1371600" y="0"/>
                </a:lnTo>
                <a:lnTo>
                  <a:pt x="1051560" y="1097280"/>
                </a:lnTo>
                <a:lnTo>
                  <a:pt x="0" y="1097280"/>
                </a:lnTo>
                <a:close/>
              </a:path>
            </a:pathLst>
          </a:custGeom>
          <a:solidFill>
            <a:srgbClr val="4EA72E"/>
          </a:solidFill>
          <a:ln w="12700">
            <a:solidFill>
              <a:srgbClr val="4EA72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6634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2103120" y="4663440"/>
            <a:ext cx="9509760" cy="1097280"/>
          </a:xfrm>
          <a:prstGeom prst="rect">
            <a:avLst/>
          </a:prstGeom>
          <a:solidFill>
            <a:srgbClr val="EEF8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377440" y="4800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72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下一輪要改的事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513892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1414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下一次報告，我會先改＿＿＿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8A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377440"/>
            <a:ext cx="2194560" cy="219456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874520"/>
            <a:ext cx="3200400" cy="320040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371600"/>
            <a:ext cx="4206240" cy="420624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868680"/>
            <a:ext cx="5212080" cy="521208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365760"/>
            <a:ext cx="6217920" cy="6217920"/>
          </a:xfrm>
          <a:prstGeom prst="ellipse">
            <a:avLst/>
          </a:prstGeom>
          <a:ln w="1905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接下來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2194560" cy="685800"/>
          </a:xfrm>
          <a:custGeom>
            <a:avLst/>
            <a:gdLst/>
            <a:ahLst/>
            <a:cxnLst/>
            <a:rect l="l" t="t" r="r" b="b"/>
            <a:pathLst>
              <a:path w="2194560" h="685800">
                <a:moveTo>
                  <a:pt x="0" y="0"/>
                </a:moveTo>
                <a:lnTo>
                  <a:pt x="2194560" y="0"/>
                </a:lnTo>
                <a:lnTo>
                  <a:pt x="196596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天內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560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專案經理彙整回饋，安排大家勾選的協助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2194560" cy="685800"/>
          </a:xfrm>
          <a:custGeom>
            <a:avLst/>
            <a:gdLst/>
            <a:ahLst/>
            <a:cxnLst/>
            <a:rect l="l" t="t" r="r" b="b"/>
            <a:pathLst>
              <a:path w="2194560" h="685800">
                <a:moveTo>
                  <a:pt x="0" y="0"/>
                </a:moveTo>
                <a:lnTo>
                  <a:pt x="2194560" y="0"/>
                </a:lnTo>
                <a:lnTo>
                  <a:pt x="196596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E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W8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520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依回饋修訂、成果歸檔，繳交一頁學習反思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2194560" cy="685800"/>
          </a:xfrm>
          <a:custGeom>
            <a:avLst/>
            <a:gdLst/>
            <a:ahLst/>
            <a:cxnLst/>
            <a:rect l="l" t="t" r="r" b="b"/>
            <a:pathLst>
              <a:path w="2194560" h="685800">
                <a:moveTo>
                  <a:pt x="0" y="0"/>
                </a:moveTo>
                <a:lnTo>
                  <a:pt x="2194560" y="0"/>
                </a:lnTo>
                <a:lnTo>
                  <a:pt x="1965960" y="685800"/>
                </a:lnTo>
                <a:lnTo>
                  <a:pt x="0" y="685800"/>
                </a:lnTo>
                <a:close/>
              </a:path>
            </a:pathLst>
          </a:custGeom>
          <a:solidFill>
            <a:srgbClr val="FF9E3E"/>
          </a:solidFill>
          <a:ln w="12700">
            <a:solidFill>
              <a:srgbClr val="FF9E3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80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11–12 月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4805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 2 輪｜交易抽成／媒合（個人進行）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謝謝大家！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MA">
  <a:themeElements>
    <a:clrScheme name="AAMA">
      <a:dk1>
        <a:srgbClr val="414141"/>
      </a:dk1>
      <a:lt1>
        <a:srgbClr val="FFFFFF"/>
      </a:lt1>
      <a:dk2>
        <a:srgbClr val="0E7EE2"/>
      </a:dk2>
      <a:lt2>
        <a:srgbClr val="E4F1FD"/>
      </a:lt2>
      <a:accent1>
        <a:srgbClr val="0E7EE2"/>
      </a:accent1>
      <a:accent2>
        <a:srgbClr val="FF9E3E"/>
      </a:accent2>
      <a:accent3>
        <a:srgbClr val="7FD221"/>
      </a:accent3>
      <a:accent4>
        <a:srgbClr val="1095F9"/>
      </a:accent4>
      <a:accent5>
        <a:srgbClr val="F28827"/>
      </a:accent5>
      <a:accent6>
        <a:srgbClr val="4EA72E"/>
      </a:accent6>
      <a:hlink>
        <a:srgbClr val="0E7EE2"/>
      </a:hlink>
      <a:folHlink>
        <a:srgbClr val="1095F9"/>
      </a:folHlink>
    </a:clrScheme>
    <a:fontScheme name="AAMA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實習生商業模式演練｜第 1 輪 訂閱制</dc:title>
  <dc:subject>PptxGenJS Presentation</dc:subject>
  <dc:creator>AAMA 台北搖籃計畫</dc:creator>
  <cp:lastModifiedBy>AAMA 台北搖籃計畫</cp:lastModifiedBy>
  <cp:revision>1</cp:revision>
  <dcterms:created xsi:type="dcterms:W3CDTF">2026-10-18T23:23:35Z</dcterms:created>
  <dcterms:modified xsi:type="dcterms:W3CDTF">2026-10-18T23:23:35Z</dcterms:modified>
</cp:coreProperties>
</file>